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5" r:id="rId7"/>
    <p:sldId id="272" r:id="rId8"/>
    <p:sldId id="268" r:id="rId9"/>
    <p:sldId id="266" r:id="rId10"/>
    <p:sldId id="267" r:id="rId11"/>
    <p:sldId id="269" r:id="rId12"/>
    <p:sldId id="270" r:id="rId13"/>
    <p:sldId id="262" r:id="rId14"/>
    <p:sldId id="264" r:id="rId15"/>
    <p:sldId id="271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08"/>
    <p:restoredTop sz="94658"/>
  </p:normalViewPr>
  <p:slideViewPr>
    <p:cSldViewPr snapToGrid="0">
      <p:cViewPr varScale="1">
        <p:scale>
          <a:sx n="107" d="100"/>
          <a:sy n="107" d="100"/>
        </p:scale>
        <p:origin x="19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15A1-6DB8-930E-AB73-F4DA6F2F2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50E15-E42B-D192-4AF0-AF0A2994B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3A504-8C47-D30E-D069-B6C9E932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74CB6-C7C1-F98C-78B3-9BB320F2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191C7-D5CE-13BC-DFD4-80E8D910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21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E211-282F-B9D9-67EF-F3377C3C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0B3DB-BE94-32DF-45D9-79DD429CC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3B361-DD4D-45C7-A6A3-5A69FB1D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EC0CC-2270-5F85-1109-669D6BB0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8960-AE21-A662-C370-59D9E8A6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748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8E1E-8B7D-08E1-E298-46D94465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6D7CB-C0DD-781D-F9D7-028F2A24D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11D6D-FB0F-0A21-C65A-87E88A20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5008F-D646-CE05-1A5D-5F528D63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FD1CC-518A-4320-9AEB-879E856E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94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6191D-955B-DAA7-6694-B5D85048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0ECD-4C84-0C7A-02D4-C73ED50C1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90BE1-B821-E408-B117-DA9B8F803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45747-7FEA-D0D4-F745-A3EC0834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098B8-FB6E-311B-D518-277ECC9F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0E090-9AA3-ABC1-2525-0780678C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884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C3B3-3856-CC6E-75CC-A5460B589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E3FAA-7E9D-D506-DDEE-8741CB14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28AC2-3EAA-F5A8-5CEB-C0E01F5D7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FCDEE-1614-0041-01F7-AA8DA7EFD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EF8CFF-3811-622D-FA2E-FB1873737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76740-C1BB-73B4-A926-098A9C1A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836E6-691B-BF49-E8F4-F8E3A8C2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08FD72-04D2-C296-D5C0-A989A03B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10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1118-8BB5-3789-1B1D-DFCCA98B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5FDB0-9589-A8EE-C7A6-0F89176E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5C771-F3BE-D1DB-13A0-AF01E291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C4569-2080-EDA2-199F-24A73A81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23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BF6FA-4D1F-9EFB-791E-06391F1F6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A1DEA-4D2A-62A8-B161-F303E841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8F738-6856-FB56-676F-D692032E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51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ECBAD-494F-0ED0-719C-C685FF87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0A44-1D8C-F062-5D35-6B2246486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7104-BCE1-679F-44D1-161609FE6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6654A-1B6B-7A5B-D07A-CBAA65E6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345C8-4AD2-A7C1-CA6E-DFFF83E2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A610D-FAB4-696E-98D0-47900D6AB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80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0215-B883-60E3-5A6E-3F4A11E7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5228A-F3D6-4F7B-F923-F307F2BB2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84F9E-22DC-3357-EB67-85E5C4E10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58E5E-9D8D-BF34-388E-F2378434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063B4-9937-161B-D8C6-054093E08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2F0FF-8AC9-1377-7147-ED36C795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925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0479-8A75-F659-6817-4A3BE233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4B7A1-FF29-AA54-ADD3-D9015E7C7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8D91F-838B-DD93-DA21-E17CFC51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8965F-34D2-A4CD-267A-A7B2FDE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CDD75-8C2E-1071-AB2B-27B5E9F2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049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32F13-0D32-95D1-147B-69F4A0480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CBAA4-A145-650D-BC9C-F3DF44BFB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BA705-3F20-7CF4-C478-26BB01DD1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54D31-A1F7-1A2E-98F4-CE020EB3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8ED9E-AAE9-A6E0-7105-90AA879C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74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ED3FA-CEF5-9947-F55B-6AD11AB5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A2F82-BC66-087D-9AC4-B648BF2DC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3722-E81D-B017-B3CF-F2A0C331F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5DB3A-C04D-8742-ACFB-BAC69C6088F1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A2F7B-77ED-BF91-3326-7C8B3A18E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2E20C-F0EE-8638-A48E-F7C943EAB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50725-1C50-C948-BFA5-98C57D5CAA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945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salpai.ch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26B39F-11EA-35EC-B068-2B78D5970E6F}"/>
              </a:ext>
            </a:extLst>
          </p:cNvPr>
          <p:cNvSpPr txBox="1"/>
          <p:nvPr/>
        </p:nvSpPr>
        <p:spPr>
          <a:xfrm>
            <a:off x="2822315" y="1794082"/>
            <a:ext cx="6819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lang="de-DE" sz="1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100,000</a:t>
            </a:r>
            <a:r>
              <a:rPr lang="de-DE" sz="7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61C5E-202C-8560-4C50-33980436BC5D}"/>
              </a:ext>
            </a:extLst>
          </p:cNvPr>
          <p:cNvSpPr txBox="1"/>
          <p:nvPr/>
        </p:nvSpPr>
        <p:spPr>
          <a:xfrm>
            <a:off x="3137829" y="3787504"/>
            <a:ext cx="6504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data generated every day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97% stays locked</a:t>
            </a: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544B8-42C7-F7B6-2E3F-C1B3D0ECD743}"/>
              </a:ext>
            </a:extLst>
          </p:cNvPr>
          <p:cNvSpPr txBox="1"/>
          <p:nvPr/>
        </p:nvSpPr>
        <p:spPr>
          <a:xfrm>
            <a:off x="7402285" y="6426201"/>
            <a:ext cx="46794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Sources: 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WEF 2024,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ExplodingTopics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2025,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EdgeDelta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2024, </a:t>
            </a:r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Rivery.io</a:t>
            </a:r>
            <a:endParaRPr lang="de-DE" sz="11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14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57EC51-2435-B47E-92DE-DCFE2475DA6D}"/>
              </a:ext>
            </a:extLst>
          </p:cNvPr>
          <p:cNvSpPr txBox="1"/>
          <p:nvPr/>
        </p:nvSpPr>
        <p:spPr>
          <a:xfrm>
            <a:off x="3488737" y="1627698"/>
            <a:ext cx="5214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it locked?</a:t>
            </a:r>
            <a:endParaRPr lang="de-DE" sz="4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4D8B4-536C-450F-D640-C871A911ED75}"/>
              </a:ext>
            </a:extLst>
          </p:cNvPr>
          <p:cNvSpPr txBox="1"/>
          <p:nvPr/>
        </p:nvSpPr>
        <p:spPr>
          <a:xfrm>
            <a:off x="3664083" y="3020097"/>
            <a:ext cx="48638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 privacy laws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of patient re-identification</a:t>
            </a:r>
            <a:endParaRPr lang="de-DE" sz="28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87F4-70CD-34D4-A6A4-63413719F5FF}"/>
              </a:ext>
            </a:extLst>
          </p:cNvPr>
          <p:cNvSpPr txBox="1"/>
          <p:nvPr/>
        </p:nvSpPr>
        <p:spPr>
          <a:xfrm>
            <a:off x="9416198" y="5831174"/>
            <a:ext cx="2248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(GDPR / HIPAA / nFADP)</a:t>
            </a:r>
            <a:endParaRPr lang="de-DE" sz="14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101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85CEA9-2BFC-E795-8182-AB9F99863D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6"/>
                    </a14:imgEffect>
                    <a14:imgEffect>
                      <a14:saturation sat="400000"/>
                    </a14:imgEffect>
                    <a14:imgEffect>
                      <a14:brightnessContrast bright="20000" contrast="9000"/>
                    </a14:imgEffect>
                  </a14:imgLayer>
                </a14:imgProps>
              </a:ext>
            </a:extLst>
          </a:blip>
          <a:srcRect l="14067" t="16372" r="13966" b="14993"/>
          <a:stretch>
            <a:fillRect/>
          </a:stretch>
        </p:blipFill>
        <p:spPr>
          <a:xfrm>
            <a:off x="2458816" y="1754891"/>
            <a:ext cx="1734697" cy="1654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984CDC-4B77-15B9-1CCE-CF8143BA4332}"/>
              </a:ext>
            </a:extLst>
          </p:cNvPr>
          <p:cNvSpPr txBox="1"/>
          <p:nvPr/>
        </p:nvSpPr>
        <p:spPr>
          <a:xfrm>
            <a:off x="4796191" y="2126972"/>
            <a:ext cx="41052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GESALP        AI </a:t>
            </a:r>
          </a:p>
        </p:txBody>
      </p:sp>
      <p:pic>
        <p:nvPicPr>
          <p:cNvPr id="9" name="Picture 8" descr="A red logo with a cross&#10;&#10;AI-generated content may be incorrect.">
            <a:extLst>
              <a:ext uri="{FF2B5EF4-FFF2-40B4-BE49-F238E27FC236}">
                <a16:creationId xmlns:a16="http://schemas.microsoft.com/office/drawing/2014/main" id="{003EF470-59EC-D7EA-5F85-48965F2E2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6000"/>
                    </a14:imgEffect>
                  </a14:imgLayer>
                </a14:imgProps>
              </a:ext>
            </a:extLst>
          </a:blip>
          <a:srcRect l="13730" t="18082" r="15025" b="14990"/>
          <a:stretch>
            <a:fillRect/>
          </a:stretch>
        </p:blipFill>
        <p:spPr>
          <a:xfrm>
            <a:off x="7162769" y="2052805"/>
            <a:ext cx="843769" cy="8437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500CB0-52BB-6A3D-DAD7-26695BDEEDFD}"/>
              </a:ext>
            </a:extLst>
          </p:cNvPr>
          <p:cNvSpPr txBox="1"/>
          <p:nvPr/>
        </p:nvSpPr>
        <p:spPr>
          <a:xfrm>
            <a:off x="5015894" y="2967335"/>
            <a:ext cx="4293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unlock clinical data — safely</a:t>
            </a:r>
            <a:endParaRPr lang="de-DE" sz="2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33697-7CFC-BCE3-8171-82DFDFA4D23F}"/>
              </a:ext>
            </a:extLst>
          </p:cNvPr>
          <p:cNvSpPr txBox="1"/>
          <p:nvPr/>
        </p:nvSpPr>
        <p:spPr>
          <a:xfrm>
            <a:off x="1184992" y="5764867"/>
            <a:ext cx="10315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AI-ready data with provable privacy | For hospitals, researchers,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CROs,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Insurances, pharma &amp; MedTech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01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6643-5329-F566-F076-7BC65230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EE0837-A1A6-4A65-7FBA-3F133263B584}"/>
              </a:ext>
            </a:extLst>
          </p:cNvPr>
          <p:cNvSpPr txBox="1"/>
          <p:nvPr/>
        </p:nvSpPr>
        <p:spPr>
          <a:xfrm>
            <a:off x="4421502" y="913413"/>
            <a:ext cx="33489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EBC5F-472D-696C-30A2-0F5132CB26B6}"/>
              </a:ext>
            </a:extLst>
          </p:cNvPr>
          <p:cNvSpPr txBox="1"/>
          <p:nvPr/>
        </p:nvSpPr>
        <p:spPr>
          <a:xfrm>
            <a:off x="1967397" y="3866238"/>
            <a:ext cx="196720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Connect</a:t>
            </a:r>
            <a:endParaRPr lang="de-DE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1F771-A96F-4D15-5F04-BE9517031B05}"/>
              </a:ext>
            </a:extLst>
          </p:cNvPr>
          <p:cNvSpPr txBox="1"/>
          <p:nvPr/>
        </p:nvSpPr>
        <p:spPr>
          <a:xfrm>
            <a:off x="5330863" y="3866238"/>
            <a:ext cx="173637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Agentic Engine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9D907-9DC3-9822-2E2C-A3722481A5E3}"/>
              </a:ext>
            </a:extLst>
          </p:cNvPr>
          <p:cNvSpPr txBox="1"/>
          <p:nvPr/>
        </p:nvSpPr>
        <p:spPr>
          <a:xfrm>
            <a:off x="8883426" y="3866238"/>
            <a:ext cx="9028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80B7E8-8121-E7FA-F971-9A177A0BC427}"/>
              </a:ext>
            </a:extLst>
          </p:cNvPr>
          <p:cNvSpPr txBox="1"/>
          <p:nvPr/>
        </p:nvSpPr>
        <p:spPr>
          <a:xfrm>
            <a:off x="2051221" y="4377589"/>
            <a:ext cx="175721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secure EMR upload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 table link</a:t>
            </a:r>
            <a:endParaRPr lang="en-US" sz="1400" noProof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DB53A-6BB7-6F6C-BFF4-86919D74FEEA}"/>
              </a:ext>
            </a:extLst>
          </p:cNvPr>
          <p:cNvSpPr txBox="1"/>
          <p:nvPr/>
        </p:nvSpPr>
        <p:spPr>
          <a:xfrm>
            <a:off x="4837940" y="4377589"/>
            <a:ext cx="272222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privacy-ready synthetic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dataset card &amp; audit report</a:t>
            </a:r>
            <a:endParaRPr lang="en-GB" sz="1400" noProof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C282C-6837-5F34-6E46-5BEAC9538E38}"/>
              </a:ext>
            </a:extLst>
          </p:cNvPr>
          <p:cNvSpPr txBox="1"/>
          <p:nvPr/>
        </p:nvSpPr>
        <p:spPr>
          <a:xfrm>
            <a:off x="8259855" y="4377589"/>
            <a:ext cx="2691763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download the synthetic dataset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&amp; audit report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 publish to the marketplace</a:t>
            </a:r>
            <a:endParaRPr lang="en-US" sz="1400" noProof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DDF93C0-808F-B5B1-CE6D-3EBACFDCB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000" y="2895598"/>
            <a:ext cx="683743" cy="683743"/>
          </a:xfrm>
          <a:prstGeom prst="rect">
            <a:avLst/>
          </a:prstGeom>
        </p:spPr>
      </p:pic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0AA45F2-487D-FDD0-20C8-D690F5F22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489" y="2895598"/>
            <a:ext cx="558860" cy="558860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1114C4A4-2FC7-84EE-9936-E30FF41FE23D}"/>
              </a:ext>
            </a:extLst>
          </p:cNvPr>
          <p:cNvSpPr/>
          <p:nvPr/>
        </p:nvSpPr>
        <p:spPr>
          <a:xfrm>
            <a:off x="4390779" y="3034732"/>
            <a:ext cx="514831" cy="3803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C0172FF-742A-7017-9DC7-1CDE997CF684}"/>
              </a:ext>
            </a:extLst>
          </p:cNvPr>
          <p:cNvSpPr/>
          <p:nvPr/>
        </p:nvSpPr>
        <p:spPr>
          <a:xfrm>
            <a:off x="7492485" y="3034731"/>
            <a:ext cx="514831" cy="380351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4ED6D46-6271-D683-023A-56EC84A41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411" y="2776290"/>
            <a:ext cx="632652" cy="632652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6BE9FB3-433E-63A0-8C64-AE710EC24E1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2000"/>
          </a:blip>
          <a:stretch>
            <a:fillRect/>
          </a:stretch>
        </p:blipFill>
        <p:spPr>
          <a:xfrm>
            <a:off x="8578644" y="2823299"/>
            <a:ext cx="632652" cy="632652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B24CC46B-F7FC-13BD-EC0B-1232F0B48299}"/>
              </a:ext>
            </a:extLst>
          </p:cNvPr>
          <p:cNvSpPr/>
          <p:nvPr/>
        </p:nvSpPr>
        <p:spPr>
          <a:xfrm>
            <a:off x="1764538" y="2708999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D6A2B3E-F060-2D2E-52BA-A830202B056E}"/>
              </a:ext>
            </a:extLst>
          </p:cNvPr>
          <p:cNvSpPr/>
          <p:nvPr/>
        </p:nvSpPr>
        <p:spPr>
          <a:xfrm>
            <a:off x="5254243" y="2708999"/>
            <a:ext cx="228600" cy="228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8783EB-1EFE-746A-45A9-D9AAD4CCEE81}"/>
              </a:ext>
            </a:extLst>
          </p:cNvPr>
          <p:cNvSpPr/>
          <p:nvPr/>
        </p:nvSpPr>
        <p:spPr>
          <a:xfrm>
            <a:off x="8196687" y="2708999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pic>
        <p:nvPicPr>
          <p:cNvPr id="36" name="Picture 35" descr="A red logo with a cross&#10;&#10;AI-generated content may be incorrect.">
            <a:extLst>
              <a:ext uri="{FF2B5EF4-FFF2-40B4-BE49-F238E27FC236}">
                <a16:creationId xmlns:a16="http://schemas.microsoft.com/office/drawing/2014/main" id="{AC09FCC4-1E6B-FDF1-9247-1E6ED1A9D1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bright="13000"/>
                    </a14:imgEffect>
                  </a14:imgLayer>
                </a14:imgProps>
              </a:ext>
            </a:extLst>
          </a:blip>
          <a:srcRect l="13730" t="18082" r="15025" b="14990"/>
          <a:stretch>
            <a:fillRect/>
          </a:stretch>
        </p:blipFill>
        <p:spPr>
          <a:xfrm>
            <a:off x="5709335" y="2671709"/>
            <a:ext cx="1106394" cy="1106394"/>
          </a:xfrm>
          <a:prstGeom prst="rect">
            <a:avLst/>
          </a:prstGeom>
        </p:spPr>
      </p:pic>
      <p:pic>
        <p:nvPicPr>
          <p:cNvPr id="29" name="Picture 28" descr="A red and black logo&#10;&#10;AI-generated content may be incorrect.">
            <a:extLst>
              <a:ext uri="{FF2B5EF4-FFF2-40B4-BE49-F238E27FC236}">
                <a16:creationId xmlns:a16="http://schemas.microsoft.com/office/drawing/2014/main" id="{C543C29B-09F7-4D51-D057-9D1185734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636" y="2406956"/>
            <a:ext cx="369333" cy="3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8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700BE-67EC-CC51-392C-A561D1A90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A43E63-8C75-D419-FABD-85A444C3A76C}"/>
              </a:ext>
            </a:extLst>
          </p:cNvPr>
          <p:cNvSpPr txBox="1"/>
          <p:nvPr/>
        </p:nvSpPr>
        <p:spPr>
          <a:xfrm>
            <a:off x="4560300" y="956956"/>
            <a:ext cx="2746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noProof="0" dirty="0">
                <a:latin typeface="Arial" panose="020B0604020202020204" pitchFamily="34" charset="0"/>
                <a:cs typeface="Arial" panose="020B0604020202020204" pitchFamily="34" charset="0"/>
              </a:rPr>
              <a:t>Why now?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D893CA-1CB1-2445-F67A-A5BEFADC912F}"/>
              </a:ext>
            </a:extLst>
          </p:cNvPr>
          <p:cNvSpPr txBox="1"/>
          <p:nvPr/>
        </p:nvSpPr>
        <p:spPr>
          <a:xfrm>
            <a:off x="3413487" y="3136554"/>
            <a:ext cx="5125121" cy="101053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Nvidia reportedly acquired Gretel,</a:t>
            </a:r>
          </a:p>
          <a:p>
            <a:pPr algn="ctr">
              <a:lnSpc>
                <a:spcPct val="150000"/>
              </a:lnSpc>
            </a:pPr>
            <a:r>
              <a:rPr lang="en-US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San Diego–based synthetic-data startup.</a:t>
            </a:r>
            <a:endParaRPr lang="en-GB" i="1" noProof="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F646E-6B65-E2EF-34F1-E596E6DF061D}"/>
              </a:ext>
            </a:extLst>
          </p:cNvPr>
          <p:cNvSpPr txBox="1"/>
          <p:nvPr/>
        </p:nvSpPr>
        <p:spPr>
          <a:xfrm>
            <a:off x="4475070" y="5618798"/>
            <a:ext cx="291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market is moving now.</a:t>
            </a:r>
          </a:p>
        </p:txBody>
      </p:sp>
    </p:spTree>
    <p:extLst>
      <p:ext uri="{BB962C8B-B14F-4D97-AF65-F5344CB8AC3E}">
        <p14:creationId xmlns:p14="http://schemas.microsoft.com/office/powerpoint/2010/main" val="268595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4664-A5D1-7A37-C104-0C142C4F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3E7EFC-CBF1-4B27-766B-29749FA0F0A1}"/>
              </a:ext>
            </a:extLst>
          </p:cNvPr>
          <p:cNvSpPr txBox="1"/>
          <p:nvPr/>
        </p:nvSpPr>
        <p:spPr>
          <a:xfrm>
            <a:off x="5006310" y="1745851"/>
            <a:ext cx="2179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Traction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A18622-2232-706E-F5E4-2945355293DE}"/>
              </a:ext>
            </a:extLst>
          </p:cNvPr>
          <p:cNvSpPr txBox="1"/>
          <p:nvPr/>
        </p:nvSpPr>
        <p:spPr>
          <a:xfrm>
            <a:off x="1739153" y="3463430"/>
            <a:ext cx="9215717" cy="4653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US" b="1" dirty="0">
                <a:solidFill>
                  <a:srgbClr val="FF0000"/>
                </a:solidFill>
              </a:rPr>
              <a:t>Early inbound demand</a:t>
            </a:r>
            <a:r>
              <a:rPr lang="en-US" dirty="0"/>
              <a:t>: pharma-focused GTM firm reached out after discovering Gesalp AI</a:t>
            </a:r>
            <a:endParaRPr lang="en-GB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81669E-72D4-9A8A-1C2E-2ADAA612BF33}"/>
              </a:ext>
            </a:extLst>
          </p:cNvPr>
          <p:cNvSpPr txBox="1"/>
          <p:nvPr/>
        </p:nvSpPr>
        <p:spPr>
          <a:xfrm>
            <a:off x="3583114" y="5734307"/>
            <a:ext cx="5354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Signal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Market pull is already starting before launch.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20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014E-65C0-FD24-0139-73AE7778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D065AD-88DB-87C0-D786-3C0017A59961}"/>
              </a:ext>
            </a:extLst>
          </p:cNvPr>
          <p:cNvSpPr txBox="1"/>
          <p:nvPr/>
        </p:nvSpPr>
        <p:spPr>
          <a:xfrm>
            <a:off x="3881173" y="1852798"/>
            <a:ext cx="3931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Current Status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B79AB-2B20-1730-6A56-0023357159FA}"/>
              </a:ext>
            </a:extLst>
          </p:cNvPr>
          <p:cNvSpPr txBox="1"/>
          <p:nvPr/>
        </p:nvSpPr>
        <p:spPr>
          <a:xfrm>
            <a:off x="3806902" y="3429000"/>
            <a:ext cx="4079756" cy="4653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Clr>
                <a:srgbClr val="FF0000"/>
              </a:buClr>
            </a:pPr>
            <a:r>
              <a:rPr lang="en-GB" i="1" noProof="0" dirty="0">
                <a:latin typeface="Arial" panose="020B0604020202020204" pitchFamily="34" charset="0"/>
                <a:cs typeface="Arial" panose="020B0604020202020204" pitchFamily="34" charset="0"/>
              </a:rPr>
              <a:t>Between POC and MVP – </a:t>
            </a:r>
            <a:r>
              <a:rPr lang="en-GB" i="1" noProof="0" dirty="0" err="1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gesalpai.ch</a:t>
            </a:r>
            <a:endParaRPr lang="en-GB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76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344E-6874-3644-0330-B94CDAA1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BFACDD-5A28-0F5A-F3E2-181BA3D94E38}"/>
              </a:ext>
            </a:extLst>
          </p:cNvPr>
          <p:cNvSpPr txBox="1"/>
          <p:nvPr/>
        </p:nvSpPr>
        <p:spPr>
          <a:xfrm>
            <a:off x="4690416" y="371161"/>
            <a:ext cx="2811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A6E1A-F72E-F579-A8EC-CB20CB8F5F15}"/>
              </a:ext>
            </a:extLst>
          </p:cNvPr>
          <p:cNvSpPr txBox="1"/>
          <p:nvPr/>
        </p:nvSpPr>
        <p:spPr>
          <a:xfrm>
            <a:off x="4452953" y="2490325"/>
            <a:ext cx="3286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Kogulan Natarajan — Founder</a:t>
            </a:r>
            <a:endParaRPr lang="de-DE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6151A-E3DB-C9DA-D1C2-EEA6B92CE3FC}"/>
              </a:ext>
            </a:extLst>
          </p:cNvPr>
          <p:cNvSpPr txBox="1"/>
          <p:nvPr/>
        </p:nvSpPr>
        <p:spPr>
          <a:xfrm>
            <a:off x="4452953" y="2948368"/>
            <a:ext cx="60301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AI, Data Engineering &amp; Frontend Development (8+ years)</a:t>
            </a:r>
            <a:br>
              <a:rPr lang="en-US" dirty="0"/>
            </a:br>
            <a:r>
              <a:rPr lang="en-US" dirty="0"/>
              <a:t>Paris-based (entrepreneur visa), preparing Swiss relocation</a:t>
            </a:r>
            <a:br>
              <a:rPr lang="en-US" dirty="0"/>
            </a:br>
            <a:r>
              <a:rPr lang="en-US" dirty="0"/>
              <a:t>Building clinical-grade synthetic data engine</a:t>
            </a:r>
            <a:endParaRPr lang="de-DE" dirty="0"/>
          </a:p>
        </p:txBody>
      </p:sp>
      <p:pic>
        <p:nvPicPr>
          <p:cNvPr id="8" name="Picture 7" descr="A person wearing glasses and a white shirt&#10;&#10;AI-generated content may be incorrect.">
            <a:extLst>
              <a:ext uri="{FF2B5EF4-FFF2-40B4-BE49-F238E27FC236}">
                <a16:creationId xmlns:a16="http://schemas.microsoft.com/office/drawing/2014/main" id="{922C59F8-DA25-A698-C671-503E218AB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08" r="15071" b="20304"/>
          <a:stretch>
            <a:fillRect/>
          </a:stretch>
        </p:blipFill>
        <p:spPr>
          <a:xfrm>
            <a:off x="2481342" y="1785907"/>
            <a:ext cx="1848116" cy="2085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7EC431-1874-8562-B389-9A74C99F30C4}"/>
              </a:ext>
            </a:extLst>
          </p:cNvPr>
          <p:cNvSpPr txBox="1"/>
          <p:nvPr/>
        </p:nvSpPr>
        <p:spPr>
          <a:xfrm>
            <a:off x="2481342" y="5103190"/>
            <a:ext cx="77757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Looking for</a:t>
            </a:r>
            <a:br>
              <a:rPr lang="en-US" dirty="0"/>
            </a:br>
            <a:r>
              <a:rPr lang="en-US" dirty="0"/>
              <a:t>• Swiss co-founder • Angel investor • Clinical/privacy advisors</a:t>
            </a:r>
          </a:p>
          <a:p>
            <a:r>
              <a:rPr lang="en-US" dirty="0"/>
              <a:t>• Currently in discussion with healthcare &amp; clinical experts to join as advisors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A8ED1-4C53-3673-D9C5-7E00D34B1F01}"/>
              </a:ext>
            </a:extLst>
          </p:cNvPr>
          <p:cNvSpPr txBox="1"/>
          <p:nvPr/>
        </p:nvSpPr>
        <p:spPr>
          <a:xfrm>
            <a:off x="3928899" y="59305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3604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89E3-7C71-7D3C-0B12-87DD4475D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12F1FE-167A-4532-8781-B1FDE99BDCDA}"/>
              </a:ext>
            </a:extLst>
          </p:cNvPr>
          <p:cNvSpPr txBox="1"/>
          <p:nvPr/>
        </p:nvSpPr>
        <p:spPr>
          <a:xfrm>
            <a:off x="4855901" y="1727927"/>
            <a:ext cx="2179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The Ask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BFACD-BAF7-6593-8166-3CB56FCEB3CE}"/>
              </a:ext>
            </a:extLst>
          </p:cNvPr>
          <p:cNvSpPr txBox="1"/>
          <p:nvPr/>
        </p:nvSpPr>
        <p:spPr>
          <a:xfrm>
            <a:off x="2640280" y="3325067"/>
            <a:ext cx="6610620" cy="1296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Angel funding</a:t>
            </a:r>
            <a:br>
              <a:rPr lang="en-US" dirty="0"/>
            </a:br>
            <a:r>
              <a:rPr lang="en-US" dirty="0"/>
              <a:t>to complete the MVP of our agentic synthetic-data engine</a:t>
            </a:r>
            <a:br>
              <a:rPr lang="en-US" dirty="0"/>
            </a:br>
            <a:r>
              <a:rPr lang="en-US" dirty="0"/>
              <a:t>and launch early pilots with hospitals &amp; researchers.</a:t>
            </a:r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825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C01A-C797-C937-51B9-F10AB5C80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CD9B40-497F-7A16-2448-863B85D0CBF8}"/>
              </a:ext>
            </a:extLst>
          </p:cNvPr>
          <p:cNvSpPr txBox="1"/>
          <p:nvPr/>
        </p:nvSpPr>
        <p:spPr>
          <a:xfrm>
            <a:off x="4690417" y="1172912"/>
            <a:ext cx="2811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Valuation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1CDD3-5ECD-5147-7F79-652C403FB478}"/>
              </a:ext>
            </a:extLst>
          </p:cNvPr>
          <p:cNvSpPr txBox="1"/>
          <p:nvPr/>
        </p:nvSpPr>
        <p:spPr>
          <a:xfrm>
            <a:off x="2549713" y="3162538"/>
            <a:ext cx="7092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to discussion with lead investor.</a:t>
            </a:r>
            <a:endParaRPr lang="de-DE" sz="2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B06D2-6EC9-FF47-FF07-E3DE1F4CDED1}"/>
              </a:ext>
            </a:extLst>
          </p:cNvPr>
          <p:cNvSpPr txBox="1"/>
          <p:nvPr/>
        </p:nvSpPr>
        <p:spPr>
          <a:xfrm>
            <a:off x="2780862" y="5877635"/>
            <a:ext cx="663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Raising CHF 100,000 (SAFE - Simple Agreement for Future Equity)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718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391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733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92414-A1B5-0044-C3D6-A2E2368F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F72599-3478-5083-F9C7-330B7412491D}"/>
              </a:ext>
            </a:extLst>
          </p:cNvPr>
          <p:cNvSpPr txBox="1"/>
          <p:nvPr/>
        </p:nvSpPr>
        <p:spPr>
          <a:xfrm>
            <a:off x="4579398" y="974885"/>
            <a:ext cx="30332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What we do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23366-AAF4-5DB2-EB37-F494331E9406}"/>
              </a:ext>
            </a:extLst>
          </p:cNvPr>
          <p:cNvSpPr txBox="1"/>
          <p:nvPr/>
        </p:nvSpPr>
        <p:spPr>
          <a:xfrm>
            <a:off x="2541343" y="3010912"/>
            <a:ext cx="7109312" cy="8720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GESALP AI generates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clinical-grade synthetic health datasets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built-in privacy, ready for research &amp; AI development.</a:t>
            </a:r>
            <a:endParaRPr lang="en-GB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E90B68-1462-2CA9-2E72-70C22C6F83B9}"/>
              </a:ext>
            </a:extLst>
          </p:cNvPr>
          <p:cNvSpPr txBox="1"/>
          <p:nvPr/>
        </p:nvSpPr>
        <p:spPr>
          <a:xfrm>
            <a:off x="2541343" y="5698449"/>
            <a:ext cx="7439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hospitals, researchers, CROs,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Insurances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pharma &amp; MedTech.</a:t>
            </a:r>
          </a:p>
        </p:txBody>
      </p:sp>
    </p:spTree>
    <p:extLst>
      <p:ext uri="{BB962C8B-B14F-4D97-AF65-F5344CB8AC3E}">
        <p14:creationId xmlns:p14="http://schemas.microsoft.com/office/powerpoint/2010/main" val="120505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F2C7-BF0A-460D-B043-BB3D1B92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ECCC91-2A0E-DF97-8284-3A416722B309}"/>
              </a:ext>
            </a:extLst>
          </p:cNvPr>
          <p:cNvSpPr txBox="1"/>
          <p:nvPr/>
        </p:nvSpPr>
        <p:spPr>
          <a:xfrm>
            <a:off x="4550544" y="956956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Why we win</a:t>
            </a:r>
            <a:endParaRPr lang="en-US" sz="4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5EB0B4-21B4-D88B-B9D3-4B141D375319}"/>
              </a:ext>
            </a:extLst>
          </p:cNvPr>
          <p:cNvSpPr txBox="1"/>
          <p:nvPr/>
        </p:nvSpPr>
        <p:spPr>
          <a:xfrm>
            <a:off x="4045115" y="2369735"/>
            <a:ext cx="4596427" cy="21185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for healthcare from day one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On-prem deployment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Agentic engine automates tuning + audit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Privacy + utility validation built-in</a:t>
            </a:r>
          </a:p>
          <a:p>
            <a:pPr marL="285750" indent="-285750">
              <a:lnSpc>
                <a:spcPct val="1500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Swiss trust advantage</a:t>
            </a:r>
            <a:endParaRPr lang="en-GB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173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ge distribution&#10;&#10;AI-generated content may be incorrect.">
            <a:extLst>
              <a:ext uri="{FF2B5EF4-FFF2-40B4-BE49-F238E27FC236}">
                <a16:creationId xmlns:a16="http://schemas.microsoft.com/office/drawing/2014/main" id="{28CA43A7-3B67-4FA9-B03D-F7595423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44" y="469181"/>
            <a:ext cx="10364160" cy="642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98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6E2E2-C86E-3E1D-A84A-07211EA89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MIA AUC (0.560)</a:t>
            </a:r>
          </a:p>
          <a:p>
            <a:r>
              <a:rPr lang="en-US" dirty="0"/>
              <a:t>“MIA” = </a:t>
            </a:r>
            <a:r>
              <a:rPr lang="en-US" b="1" dirty="0"/>
              <a:t>Membership Inference Attack</a:t>
            </a:r>
            <a:br>
              <a:rPr lang="en-US" dirty="0"/>
            </a:br>
            <a:r>
              <a:rPr lang="en-US" dirty="0"/>
              <a:t>AUC ≈ 0.5 means </a:t>
            </a:r>
            <a:r>
              <a:rPr lang="en-US" b="1" dirty="0"/>
              <a:t>the attacker cannot tell if a real patient was in the original dataset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0.560 is very close to random guessing — this is considered safe.</a:t>
            </a:r>
          </a:p>
          <a:p>
            <a:r>
              <a:rPr lang="en-US" dirty="0"/>
              <a:t>“0.56 means an attacker is basically guessing. They can’t tell whether a patient was in the dataset.”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3052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3F36B0-B818-C422-962F-5CDDED4DBF40}"/>
              </a:ext>
            </a:extLst>
          </p:cNvPr>
          <p:cNvSpPr txBox="1"/>
          <p:nvPr/>
        </p:nvSpPr>
        <p:spPr>
          <a:xfrm>
            <a:off x="1983180" y="1626920"/>
            <a:ext cx="80544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Duplicate Rate (3%)</a:t>
            </a:r>
          </a:p>
          <a:p>
            <a:pPr>
              <a:buNone/>
            </a:pPr>
            <a:r>
              <a:rPr lang="en-US" sz="2800" dirty="0"/>
              <a:t>This checks how many synthetic records accidentally match real patient records.</a:t>
            </a:r>
          </a:p>
          <a:p>
            <a:pPr>
              <a:buNone/>
            </a:pPr>
            <a:r>
              <a:rPr lang="en-US" sz="2800" dirty="0"/>
              <a:t>✅ </a:t>
            </a:r>
            <a:r>
              <a:rPr lang="en-US" sz="2800" i="1" dirty="0"/>
              <a:t>Simple version:</a:t>
            </a:r>
            <a:br>
              <a:rPr lang="en-US" sz="2800" dirty="0"/>
            </a:br>
            <a:r>
              <a:rPr lang="en-US" sz="2800" dirty="0"/>
              <a:t>“Only 3% look similar to original rows — meaning no direct copying. This is considered safe in synthetic data tests.”</a:t>
            </a:r>
          </a:p>
        </p:txBody>
      </p:sp>
    </p:spTree>
    <p:extLst>
      <p:ext uri="{BB962C8B-B14F-4D97-AF65-F5344CB8AC3E}">
        <p14:creationId xmlns:p14="http://schemas.microsoft.com/office/powerpoint/2010/main" val="2913030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3C8300-0CE7-48C8-073A-9F35BD2F80DD}"/>
              </a:ext>
            </a:extLst>
          </p:cNvPr>
          <p:cNvSpPr txBox="1"/>
          <p:nvPr/>
        </p:nvSpPr>
        <p:spPr>
          <a:xfrm>
            <a:off x="3048990" y="1031312"/>
            <a:ext cx="609797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Utility Audit (Passed)</a:t>
            </a:r>
          </a:p>
          <a:p>
            <a:pPr>
              <a:buNone/>
            </a:pPr>
            <a:r>
              <a:rPr lang="en-US" dirty="0"/>
              <a:t>This proves the synthetic dataset is </a:t>
            </a:r>
            <a:r>
              <a:rPr lang="en-US" b="1" dirty="0"/>
              <a:t>useful for analysis, AI, or statistics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• KS Mean (0.080)</a:t>
            </a:r>
          </a:p>
          <a:p>
            <a:pPr>
              <a:buNone/>
            </a:pPr>
            <a:r>
              <a:rPr lang="en-US" dirty="0"/>
              <a:t>KS = </a:t>
            </a:r>
            <a:r>
              <a:rPr lang="en-US" b="1" dirty="0"/>
              <a:t>Kolmogorov-Smirnov distance</a:t>
            </a:r>
            <a:r>
              <a:rPr lang="en-US" dirty="0"/>
              <a:t>, a measure of how close distributions match.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“0.08 means the synthetic distributions closely match the real ones — good utility.”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• Correlation Delta (0.120)</a:t>
            </a:r>
          </a:p>
          <a:p>
            <a:pPr>
              <a:buNone/>
            </a:pPr>
            <a:r>
              <a:rPr lang="en-US" dirty="0"/>
              <a:t>This checks if relationships between variables (e.g., age → blood pressure) are preserved.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“0.12 means the relationships in the synthetic data closely match the real data — useful for AI training.”</a:t>
            </a:r>
          </a:p>
        </p:txBody>
      </p:sp>
    </p:spTree>
    <p:extLst>
      <p:ext uri="{BB962C8B-B14F-4D97-AF65-F5344CB8AC3E}">
        <p14:creationId xmlns:p14="http://schemas.microsoft.com/office/powerpoint/2010/main" val="151104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1852</TotalTime>
  <Words>540</Words>
  <Application>Microsoft Macintosh PowerPoint</Application>
  <PresentationFormat>Widescreen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KOGULAN NATARAJAN</dc:creator>
  <cp:lastModifiedBy>KOGULAN NATARAJAN</cp:lastModifiedBy>
  <cp:revision>86</cp:revision>
  <dcterms:created xsi:type="dcterms:W3CDTF">2025-11-05T11:29:34Z</dcterms:created>
  <dcterms:modified xsi:type="dcterms:W3CDTF">2025-11-07T14:48:11Z</dcterms:modified>
</cp:coreProperties>
</file>